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" y="4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BFFD16-C74D-48F9-908E-BB7871BAEC40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8DD48C-8365-44DD-B24F-629DDC051F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435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63254-FF49-CC84-21FC-DCF5C74DE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CDB92B-4FF7-B7B7-A4BD-F240652136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DEB34-0E69-9D71-3046-397EAE984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22AF59-4EEF-372C-8768-B0F1EE2DF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1BD877-027B-E2D8-D594-A5E66BC30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65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D3AB9-6F1F-07BB-3E79-2156A45E9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D0BF2-DF9F-09AA-341E-16DB1AC053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CB97D2-EE37-5EDD-A977-9C2070F2D2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68D7CA-AC50-AF4E-C8D1-1E585FFF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617BE-EC62-1BBB-7DC8-679AE3B82F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21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DD8FCC-C3EE-AD80-DCC0-233EF166D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64F41C-AE43-69D0-5622-858308771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121B36-C784-51A6-FAA6-6C25FC09F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09DE4-4405-3C74-F5FB-0497D117D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846B-ED4E-9883-1495-D21BFDA93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8524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8FA17-7603-8E53-4909-FC93FC643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3E284A-1BE4-59A3-1526-8946E9D85A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64D55-50CB-145C-5078-4271D9C03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D60F2F-9511-10BD-F376-94B1C8224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D0EF0-904D-3B18-0AC9-B9AB91DC7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8D50A-D4B3-DA2A-9DB0-1CE336FB7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367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FA6A6-BBB7-9380-3CF0-A85ADFD5E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ADC240-7784-6D5E-F1D0-04E72E1E4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001802-3C36-A97F-DC35-2327E7E9D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344B45-AE7E-62BC-F887-A24119DB184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6DD17E-44B2-2CAF-3B33-AD3344D76E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58FB82C-27E6-B44C-5EDD-594F615B9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587148-2396-E3B9-8070-CBFE5C55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5EAD7A-A770-789E-BDFE-B52BF88A1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866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3D34D-8226-7712-28F4-A456207D8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D8C69D-C9DC-0030-450D-65E49F4B3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B90DB6-CEF4-E7C4-E0FA-EE08ED47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D4B40F-9B86-2CE2-F26D-A2688A8C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708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7C69F-A1B7-0152-852E-FB153222F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16FD3D-2E2A-2C6E-8E2B-38B44D401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0F54A1-A65D-2F43-5714-3B585BCA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596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E69007-BD72-0C23-E35A-E156D072B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F4BBD-5C98-615B-64E6-822249297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F36ADA-E819-FE3E-95D1-13AEEAFC8C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386C0-B59D-DBC9-E470-3A6966422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CBFE39-86D3-AA73-9D5A-0B8B71CA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FB136-7EB5-AF80-454A-906FEB98D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246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B23C0-B472-AA0A-51DE-15DE0AD833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AC7D3E-E6CD-C411-0B77-C944368B82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2E86E2-A286-AB7E-52A5-8B0053A5C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3C34A-9BF8-A4E2-E1B6-33BDE83D7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88D04-FB89-F325-906A-45024A018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DC4EB-721F-473E-9311-CB684081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93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2B9881-42FF-8ED6-343F-CCE0E2A7F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07C61D-001F-CECB-1D05-995D98C8A1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8F73E-8E56-F47B-CEC4-8E2CD090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4ED2F-60EA-DE65-9E94-7FFAF2AEC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001CE9-4E59-67CA-0157-70921C24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5542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06E6FF-C2FA-E7EA-7D1D-B4EAB3235D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44CC8F-B0A6-B297-6598-0865E68B62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4DF542-33FF-75A2-172C-F50042947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B4523-706F-1410-2735-3B2CC0C6E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89756-FC49-5A8E-C6DD-0EC4852B8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646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46481B-EF66-1B44-82D0-E4A4865A5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8379E-43B9-CBE9-AA70-52942DFF14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8E9860-BE43-DE10-304C-C18A33D195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2CC54-4B9F-427A-B55E-AF6348C034B6}" type="datetimeFigureOut">
              <a:rPr lang="en-US" smtClean="0"/>
              <a:t>1/11/2026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451ECA-3EAD-2858-F462-3B2E1A1295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CB3BE-1A38-7331-8D18-A1C7F68658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95829E-672D-493E-90F8-A11FEAD1F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874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43CAA20-3569-4189-9E48-239A229A8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6376A-A679-5325-33B9-CB84E15670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51381"/>
            <a:ext cx="10512552" cy="4066540"/>
          </a:xfrm>
        </p:spPr>
        <p:txBody>
          <a:bodyPr anchor="b">
            <a:normAutofit/>
          </a:bodyPr>
          <a:lstStyle/>
          <a:p>
            <a:pPr algn="l"/>
            <a:r>
              <a:rPr lang="en-GB" sz="6600" dirty="0"/>
              <a:t>E-Commerce Data Analysis using SQL</a:t>
            </a:r>
            <a:endParaRPr lang="en-US" sz="6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99F801-A555-6C11-1F0B-BEE26C91E6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199" y="4983276"/>
            <a:ext cx="10512552" cy="1126680"/>
          </a:xfrm>
        </p:spPr>
        <p:txBody>
          <a:bodyPr>
            <a:normAutofit/>
          </a:bodyPr>
          <a:lstStyle/>
          <a:p>
            <a:pPr algn="l"/>
            <a:r>
              <a:rPr lang="en-GB" dirty="0"/>
              <a:t>SQL-First Analytics Project with Pandas Visualizations</a:t>
            </a:r>
          </a:p>
          <a:p>
            <a:pPr algn="l"/>
            <a:endParaRPr lang="en-US" dirty="0"/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A542B6D-E775-4832-91DC-2D20F85781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200" y="4718595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FCF727-DD2A-7780-F400-3C7077212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07411" y="5744831"/>
            <a:ext cx="4114800" cy="66178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000" dirty="0"/>
              <a:t>Shabin PK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GB" sz="1000" dirty="0"/>
              <a:t>Tools Used: Python(Pandas, Seaborn), MySQL</a:t>
            </a:r>
          </a:p>
        </p:txBody>
      </p:sp>
    </p:spTree>
    <p:extLst>
      <p:ext uri="{BB962C8B-B14F-4D97-AF65-F5344CB8AC3E}">
        <p14:creationId xmlns:p14="http://schemas.microsoft.com/office/powerpoint/2010/main" val="901573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6A8EE-F7D2-CE3B-4435-5E3C61540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Objective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0AB15-BC77-8674-476A-A8A9D2D847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To analyse an e-commerce dataset using SQL as the primary analysis tool</a:t>
            </a:r>
          </a:p>
          <a:p>
            <a:r>
              <a:rPr lang="en-GB" dirty="0"/>
              <a:t>To design a normalized relational database from raw transactional data</a:t>
            </a:r>
          </a:p>
          <a:p>
            <a:r>
              <a:rPr lang="en-GB" dirty="0"/>
              <a:t>To answer real business questions related to revenue, customers, products, and geography</a:t>
            </a:r>
          </a:p>
          <a:p>
            <a:r>
              <a:rPr lang="en-GB" dirty="0"/>
              <a:t>To support SQL insights with lightweight Python visualizations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7666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076B3-FA70-F71F-A43F-1117A11A2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4B23A-F09C-EF4E-5313-1ABB9C869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Dataset represents online retail transactions</a:t>
            </a:r>
          </a:p>
          <a:p>
            <a:r>
              <a:rPr lang="en-GB" dirty="0"/>
              <a:t>Each record corresponds to a single product purchase</a:t>
            </a:r>
          </a:p>
          <a:p>
            <a:r>
              <a:rPr lang="en-GB" dirty="0"/>
              <a:t>Data includes:</a:t>
            </a:r>
          </a:p>
          <a:p>
            <a:pPr lvl="1"/>
            <a:r>
              <a:rPr lang="en-GB" dirty="0"/>
              <a:t>Customer details</a:t>
            </a:r>
          </a:p>
          <a:p>
            <a:pPr lvl="1"/>
            <a:r>
              <a:rPr lang="en-GB" dirty="0"/>
              <a:t>Product and category information</a:t>
            </a:r>
          </a:p>
          <a:p>
            <a:pPr lvl="1"/>
            <a:r>
              <a:rPr lang="en-GB" dirty="0"/>
              <a:t>Order date and payment method</a:t>
            </a:r>
          </a:p>
          <a:p>
            <a:pPr lvl="1"/>
            <a:r>
              <a:rPr lang="en-GB" dirty="0"/>
              <a:t>Quantity, price, and review score</a:t>
            </a:r>
          </a:p>
          <a:p>
            <a:r>
              <a:rPr lang="en-GB" dirty="0"/>
              <a:t>Dataset was cleaned and prepared before analysis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590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D591B-822C-6B4C-4F5E-C64CFA97B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Modeling 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56B6-4C96-CDC4-4875-5A14CE387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Raw transactional data was first stored in a staging table</a:t>
            </a:r>
          </a:p>
          <a:p>
            <a:r>
              <a:rPr lang="en-US" dirty="0"/>
              <a:t>Data was then transformed into a normalized relational schema</a:t>
            </a:r>
          </a:p>
          <a:p>
            <a:r>
              <a:rPr lang="en-US" dirty="0"/>
              <a:t>Separate tables were created for:</a:t>
            </a:r>
          </a:p>
          <a:p>
            <a:pPr lvl="1"/>
            <a:r>
              <a:rPr lang="en-US" dirty="0"/>
              <a:t>Customers</a:t>
            </a:r>
          </a:p>
          <a:p>
            <a:pPr lvl="1"/>
            <a:r>
              <a:rPr lang="en-US" dirty="0"/>
              <a:t>Orders</a:t>
            </a:r>
          </a:p>
          <a:p>
            <a:pPr lvl="1"/>
            <a:r>
              <a:rPr lang="en-US" dirty="0"/>
              <a:t>Order Items</a:t>
            </a:r>
          </a:p>
          <a:p>
            <a:pPr lvl="1"/>
            <a:r>
              <a:rPr lang="en-US" dirty="0"/>
              <a:t>Products</a:t>
            </a:r>
          </a:p>
          <a:p>
            <a:pPr lvl="1"/>
            <a:r>
              <a:rPr lang="en-US" dirty="0"/>
              <a:t>Categories</a:t>
            </a:r>
          </a:p>
          <a:p>
            <a:pPr lvl="1"/>
            <a:r>
              <a:rPr lang="en-US" dirty="0"/>
              <a:t>Reviews</a:t>
            </a:r>
          </a:p>
          <a:p>
            <a:r>
              <a:rPr lang="en-US" dirty="0"/>
              <a:t>This design ensures:</a:t>
            </a:r>
          </a:p>
          <a:p>
            <a:pPr lvl="1"/>
            <a:r>
              <a:rPr lang="en-US" dirty="0"/>
              <a:t>Reduced data redundancy</a:t>
            </a:r>
          </a:p>
          <a:p>
            <a:pPr lvl="1"/>
            <a:r>
              <a:rPr lang="en-US" dirty="0"/>
              <a:t>Clear relationships between entities</a:t>
            </a:r>
          </a:p>
          <a:p>
            <a:pPr lvl="1"/>
            <a:r>
              <a:rPr lang="en-US" dirty="0"/>
              <a:t>Accurate analytical queries</a:t>
            </a:r>
          </a:p>
        </p:txBody>
      </p:sp>
    </p:spTree>
    <p:extLst>
      <p:ext uri="{BB962C8B-B14F-4D97-AF65-F5344CB8AC3E}">
        <p14:creationId xmlns:p14="http://schemas.microsoft.com/office/powerpoint/2010/main" val="2008822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FC6DE-62AB-64F1-1DA4-5BF324A0D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&amp; Technologies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3BCD8-9E7F-B9A1-48A1-B72A8566F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Python (Pandas)</a:t>
            </a:r>
            <a:endParaRPr lang="en-GB" dirty="0"/>
          </a:p>
          <a:p>
            <a:pPr lvl="1"/>
            <a:r>
              <a:rPr lang="en-GB" dirty="0"/>
              <a:t>Initial data loading and inspection</a:t>
            </a:r>
          </a:p>
          <a:p>
            <a:pPr lvl="1"/>
            <a:r>
              <a:rPr lang="en-GB" dirty="0"/>
              <a:t>Data cleaning and preprocessing</a:t>
            </a:r>
          </a:p>
          <a:p>
            <a:pPr lvl="1"/>
            <a:r>
              <a:rPr lang="en-GB" dirty="0"/>
              <a:t>Handling missing values and date formatting</a:t>
            </a:r>
          </a:p>
          <a:p>
            <a:pPr lvl="1"/>
            <a:r>
              <a:rPr lang="en-GB" dirty="0"/>
              <a:t>Early exploratory visualizations</a:t>
            </a:r>
          </a:p>
          <a:p>
            <a:r>
              <a:rPr lang="en-GB" b="1" dirty="0"/>
              <a:t>MySQL</a:t>
            </a:r>
            <a:endParaRPr lang="en-GB" dirty="0"/>
          </a:p>
          <a:p>
            <a:pPr lvl="1"/>
            <a:r>
              <a:rPr lang="en-GB" dirty="0"/>
              <a:t>Relational database design and normalization</a:t>
            </a:r>
          </a:p>
          <a:p>
            <a:pPr lvl="1"/>
            <a:r>
              <a:rPr lang="en-GB" dirty="0"/>
              <a:t>Creation of fact and dimension tables</a:t>
            </a:r>
          </a:p>
          <a:p>
            <a:pPr lvl="1"/>
            <a:r>
              <a:rPr lang="en-GB" dirty="0"/>
              <a:t>Core analytical SQL queries to answer business questions</a:t>
            </a:r>
          </a:p>
          <a:p>
            <a:r>
              <a:rPr lang="en-GB" b="1" dirty="0"/>
              <a:t>Seaborn &amp; Matplotlib</a:t>
            </a:r>
            <a:endParaRPr lang="en-GB" dirty="0"/>
          </a:p>
          <a:p>
            <a:pPr lvl="1"/>
            <a:r>
              <a:rPr lang="en-GB" dirty="0"/>
              <a:t>Simple visualizations to understand data distribution and trends</a:t>
            </a:r>
          </a:p>
        </p:txBody>
      </p:sp>
    </p:spTree>
    <p:extLst>
      <p:ext uri="{BB962C8B-B14F-4D97-AF65-F5344CB8AC3E}">
        <p14:creationId xmlns:p14="http://schemas.microsoft.com/office/powerpoint/2010/main" val="1520884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691C8-3B6B-D2D0-0DEF-932DB0CA2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Questions Addressed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B7CCB-B990-E874-892D-312D65DFB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the total revenue generated by the business?</a:t>
            </a:r>
          </a:p>
          <a:p>
            <a:r>
              <a:rPr lang="en-GB" dirty="0"/>
              <a:t>How does revenue change over time (monthly trend)?</a:t>
            </a:r>
          </a:p>
          <a:p>
            <a:r>
              <a:rPr lang="en-GB" dirty="0"/>
              <a:t>What is the average order value?</a:t>
            </a:r>
          </a:p>
          <a:p>
            <a:r>
              <a:rPr lang="en-GB" dirty="0"/>
              <a:t>Which products and categories generate the most revenue?</a:t>
            </a:r>
          </a:p>
          <a:p>
            <a:r>
              <a:rPr lang="en-GB" dirty="0"/>
              <a:t>Who are the highest-value customers?</a:t>
            </a:r>
          </a:p>
          <a:p>
            <a:r>
              <a:rPr lang="en-GB" dirty="0"/>
              <a:t>Which cities contribute most to total revenue?</a:t>
            </a:r>
          </a:p>
          <a:p>
            <a:r>
              <a:rPr lang="en-GB" dirty="0"/>
              <a:t>Do customers make repeat purchases or buy only once?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6843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36582-ECE9-D122-D3E2-5A57F859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SQL Insights – Revenue &amp; Products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CDE20-E9D3-C6D7-A9DD-A25FD41B7B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Total Revenue:</a:t>
            </a:r>
            <a:br>
              <a:rPr lang="en-GB" dirty="0"/>
            </a:br>
            <a:r>
              <a:rPr lang="en-GB" dirty="0"/>
              <a:t>Calculated using order quantity and product price across all transactions.</a:t>
            </a:r>
          </a:p>
          <a:p>
            <a:r>
              <a:rPr lang="en-US" dirty="0"/>
              <a:t>Monthly Revenue Trend:</a:t>
            </a:r>
            <a:br>
              <a:rPr lang="en-GB" dirty="0"/>
            </a:br>
            <a:r>
              <a:rPr lang="en-GB" dirty="0"/>
              <a:t>Revenue shows variation across months, indicating possible seasonality in customer purchases.</a:t>
            </a:r>
          </a:p>
          <a:p>
            <a:r>
              <a:rPr lang="en-US" dirty="0"/>
              <a:t>Top Products by Revenue:</a:t>
            </a:r>
            <a:br>
              <a:rPr lang="en-GB" dirty="0"/>
            </a:br>
            <a:r>
              <a:rPr lang="en-GB" dirty="0"/>
              <a:t>High-volume, low-cost products contribute more to total revenue than high-priced items.</a:t>
            </a:r>
          </a:p>
          <a:p>
            <a:r>
              <a:rPr lang="en-US" dirty="0"/>
              <a:t>Revenue by Category:</a:t>
            </a:r>
            <a:br>
              <a:rPr lang="en-GB" dirty="0"/>
            </a:br>
            <a:r>
              <a:rPr lang="en-GB" dirty="0"/>
              <a:t>Certain product categories dominate revenue contribution, highlighting key business focus areas.</a:t>
            </a:r>
            <a:endParaRPr lang="en-US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909D006-B027-D5C7-2769-01D7A5161C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Calculated using order quantity and product price across all transactions.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0565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AA92-0ABB-B0CD-4726-7768FCD5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ED140-0065-5D3A-893D-BB2E58D26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Key SQL Insights – Customers &amp; </a:t>
            </a:r>
            <a:r>
              <a:rPr lang="en-GB" u="sng" dirty="0"/>
              <a:t>Behaviour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261025-5C94-52DF-CE1C-9E58C1BD9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Top Customers by Revenue:</a:t>
            </a:r>
            <a:br>
              <a:rPr lang="en-GB" dirty="0"/>
            </a:br>
            <a:r>
              <a:rPr lang="en-GB" dirty="0"/>
              <a:t>A small group of customers contributes a significant share of total revenue.</a:t>
            </a:r>
          </a:p>
          <a:p>
            <a:r>
              <a:rPr lang="en-GB" dirty="0"/>
              <a:t>City-wise Revenue Performance:</a:t>
            </a:r>
            <a:br>
              <a:rPr lang="en-GB" dirty="0"/>
            </a:br>
            <a:r>
              <a:rPr lang="en-GB" dirty="0"/>
              <a:t>Revenue contribution varies significantly across cities, suggesting opportunities for location-based strategies.</a:t>
            </a:r>
          </a:p>
          <a:p>
            <a:r>
              <a:rPr lang="en-GB" dirty="0"/>
              <a:t>Repeat vs One-time Customers:</a:t>
            </a:r>
            <a:br>
              <a:rPr lang="en-GB" dirty="0"/>
            </a:br>
            <a:r>
              <a:rPr lang="en-GB" dirty="0"/>
              <a:t>All customers in the dataset placed only a single order, indicating no repeat purchases in the available data.</a:t>
            </a:r>
          </a:p>
          <a:p>
            <a:r>
              <a:rPr lang="en-GB" dirty="0"/>
              <a:t>Customer Retention Insight:</a:t>
            </a:r>
            <a:br>
              <a:rPr lang="en-GB" dirty="0"/>
            </a:br>
            <a:r>
              <a:rPr lang="en-GB" dirty="0"/>
              <a:t>Although the dataset does not contain repeat buyers, the SQL logic supports churn and retention analysis for real-world scenarios.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6878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7C98A213-5994-475E-B327-DC6EC27FB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F05949-83AB-9DE9-47C9-B7C2C384B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670218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Exploratory Visualizations</a:t>
            </a:r>
          </a:p>
        </p:txBody>
      </p:sp>
      <p:sp>
        <p:nvSpPr>
          <p:cNvPr id="16" name="sketch line">
            <a:extLst>
              <a:ext uri="{FF2B5EF4-FFF2-40B4-BE49-F238E27FC236}">
                <a16:creationId xmlns:a16="http://schemas.microsoft.com/office/drawing/2014/main" id="{4B030A0D-0DAD-4A99-89BB-419527D6A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89376" y="1800088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B37B86F-DB0E-3149-9664-8D0CF530C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7" y="1980509"/>
            <a:ext cx="6515965" cy="4463787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63D35E-86AD-0248-F913-E949A4AE04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778" y="4255489"/>
            <a:ext cx="4542839" cy="21888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B05E8A-0887-6BA3-97D3-F6584D6068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778" y="1882410"/>
            <a:ext cx="4542839" cy="2373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9348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B6330-2F68-967B-26FA-59C8F4D9C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&amp; Project Scope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E1E8B-A561-F0F1-4343-3022079C8E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b="1" dirty="0"/>
              <a:t>Conclusion</a:t>
            </a:r>
          </a:p>
          <a:p>
            <a:pPr lvl="1"/>
            <a:r>
              <a:rPr lang="en-GB" dirty="0"/>
              <a:t>Built a normalized relational database from raw e-commerce transactional data.</a:t>
            </a:r>
          </a:p>
          <a:p>
            <a:pPr lvl="1"/>
            <a:r>
              <a:rPr lang="en-GB" dirty="0"/>
              <a:t>Performed end-to-end analysis using SQL to answer key business questions.</a:t>
            </a:r>
          </a:p>
          <a:p>
            <a:pPr lvl="1"/>
            <a:r>
              <a:rPr lang="en-GB" dirty="0"/>
              <a:t>Identified revenue concentration across products, categories, customers, and cities.</a:t>
            </a:r>
          </a:p>
          <a:p>
            <a:pPr lvl="1"/>
            <a:r>
              <a:rPr lang="en-GB" dirty="0"/>
              <a:t>Observed that all customers in the dataset were one-time buyers.</a:t>
            </a:r>
            <a:br>
              <a:rPr lang="en-GB" dirty="0"/>
            </a:br>
            <a:endParaRPr lang="en-GB" dirty="0"/>
          </a:p>
          <a:p>
            <a:r>
              <a:rPr lang="en-GB" b="1" dirty="0"/>
              <a:t>Project Scope &amp; Limitations</a:t>
            </a:r>
          </a:p>
          <a:p>
            <a:pPr lvl="1"/>
            <a:r>
              <a:rPr lang="en-GB" dirty="0"/>
              <a:t>Analysis was performed on a synthetic dataset with limited customer repetition.</a:t>
            </a:r>
          </a:p>
          <a:p>
            <a:pPr lvl="1"/>
            <a:r>
              <a:rPr lang="en-GB" dirty="0"/>
              <a:t>Insights reflect transactional behaviour within the available data only.</a:t>
            </a:r>
          </a:p>
          <a:p>
            <a:pPr lvl="1"/>
            <a:r>
              <a:rPr lang="en-GB" dirty="0"/>
              <a:t>Focus of the project was SQL-based analytics rather than predictive </a:t>
            </a:r>
            <a:r>
              <a:rPr lang="en-GB" dirty="0" err="1"/>
              <a:t>modeling</a:t>
            </a:r>
            <a:r>
              <a:rPr lang="en-GB" dirty="0"/>
              <a:t> or dashboards.</a:t>
            </a:r>
          </a:p>
          <a:p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06188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ABB8F-9DEB-3A33-0294-C41677B90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Entity Relationship Diagram (ERD)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4FE8B5-210C-7AD2-420B-138936C74568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200"/>
              <a:t>Normalized schema designed to separate customers, orders, products, and transactional data.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98DEF49-BA15-A675-47A0-9F16C4C017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2078" y="640080"/>
            <a:ext cx="4808155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61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DF4FE-FC2F-47E8-FBBE-B632355F4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SQL Queries &amp; Results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296D59E-4A58-440D-4D70-A1A4B7B6B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224" y="1724618"/>
            <a:ext cx="1943268" cy="1882303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958002-A55A-5E6E-F013-B15B7042E5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52" y="1724618"/>
            <a:ext cx="4320914" cy="171464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6464D31-41C2-BF4D-1B29-5206F4566F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224" y="4020766"/>
            <a:ext cx="2004234" cy="3734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D85AD31-F0D6-14BF-7EF3-E564DA24D1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452" y="4020766"/>
            <a:ext cx="6866215" cy="1569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2679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147</TotalTime>
  <Words>585</Words>
  <Application>Microsoft Office PowerPoint</Application>
  <PresentationFormat>Widescreen</PresentationFormat>
  <Paragraphs>77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E-Commerce Data Analysis using SQL</vt:lpstr>
      <vt:lpstr>Project Objective</vt:lpstr>
      <vt:lpstr>Dataset Overview</vt:lpstr>
      <vt:lpstr>Data Modeling Approach</vt:lpstr>
      <vt:lpstr>Tools &amp; Technologies</vt:lpstr>
      <vt:lpstr>Business Questions Addressed</vt:lpstr>
      <vt:lpstr>Key SQL Insights – Revenue &amp; Products</vt:lpstr>
      <vt:lpstr>Key SQL Insights – Customers &amp; Behaviour</vt:lpstr>
      <vt:lpstr>Exploratory Visualizations</vt:lpstr>
      <vt:lpstr>Conclusion &amp; Project Scope</vt:lpstr>
      <vt:lpstr>Entity Relationship Diagram (ERD)</vt:lpstr>
      <vt:lpstr>Sample SQL Queries &amp;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Shabin Pk</dc:creator>
  <cp:lastModifiedBy>Shabin Pk</cp:lastModifiedBy>
  <cp:revision>4</cp:revision>
  <dcterms:created xsi:type="dcterms:W3CDTF">2026-01-11T10:05:50Z</dcterms:created>
  <dcterms:modified xsi:type="dcterms:W3CDTF">2026-01-11T12:33:45Z</dcterms:modified>
</cp:coreProperties>
</file>